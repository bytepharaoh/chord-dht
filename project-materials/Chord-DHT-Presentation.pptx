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Hops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5F-47C2-ADD1-6859BFAD320F}"/>
              </c:ext>
            </c:extLst>
          </c:dPt>
          <c:dPt>
            <c:idx val="1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5F-47C2-ADD1-6859BFAD320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1.8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B5F-47C2-ADD1-6859BFAD320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1.3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B5F-47C2-ADD1-6859BFAD320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F2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 churn</c:v>
                </c:pt>
                <c:pt idx="1">
                  <c:v>After churn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1.8</c:v>
                </c:pt>
                <c:pt idx="1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5F-47C2-ADD1-6859BFAD32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34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86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chordreng.duckdns.org:8010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5EEAD4">
              <a:alpha val="12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Chord DHT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Hash Table Simulation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5603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Ziad Mohamed · Artem Ulianov · Egor Maiorov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Mikhail Tikhonov · Kamil Khusnutdinov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Network Systems  ·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0FDFA"/>
          </a:solidFill>
          <a:ln w="19050">
            <a:solidFill>
              <a:srgbClr val="CCFB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5 computers and 1,000 files to store — with no central server. How does computer A find a file on computer D?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31720"/>
            <a:ext cx="265176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approach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every node one-by-one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hops — too slow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2331720"/>
            <a:ext cx="2651760" cy="54864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33172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Chord DHT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ring structure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hops ✓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Chord Works — The 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Hashing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4356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nodes and keys are hashed to a position 0–63 using SHA-1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194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4871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sit on an imaginary circle. Keys belong to the first node clockwise from their hash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35387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"file1.txt" hashes to 43 → stored on node 49 (next clockwise)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532120" y="1417320"/>
            <a:ext cx="2834640" cy="2834640"/>
          </a:xfrm>
          <a:prstGeom prst="ellipse">
            <a:avLst/>
          </a:prstGeom>
          <a:solidFill>
            <a:srgbClr val="F0FDFA"/>
          </a:solidFill>
          <a:ln w="25400">
            <a:solidFill>
              <a:srgbClr val="CCFB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6932" y="1406037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B8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6932" y="1460901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44060" y="2879587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B8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4060" y="2934451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56932" y="3860907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B8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6932" y="3915771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37236" y="3719202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B80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7236" y="377406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16427" y="2148720"/>
            <a:ext cx="402336" cy="402336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B8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6427" y="220358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210312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212140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hash=43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node 49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0" y="2697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64-slot ring (0–63)</a:t>
            </a:r>
            <a:endParaRPr lang="en-US" sz="10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D466515-E502-4707-9EC9-5492E610E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686" y="1232153"/>
            <a:ext cx="4485596" cy="325233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AF885A47-E2B8-4207-981B-314E44924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890" y="1106678"/>
            <a:ext cx="4639187" cy="34083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 Tables — O(log N) Routing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shortcuts: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every node → O(N) hops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finger tables: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has 6 shortcuts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pointing +1, +2, +4, +8, +16, +32 ahead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O(log N) hops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4114800" cy="64008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9050">
            <a:solidFill>
              <a:srgbClr val="CCFB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 finger[i] = (node.id + 2ⁱ) mod 64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15 — Finger Table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297680" cy="338328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Target  (15+2ⁱ) mod 64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 + 1  = 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 + 2  = 17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 + 4  = 19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 + 8  = 23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 + 16 = 31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 + 32 = 47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in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up  "file1.txt"  (hash = 43)  starting from node 15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1645920" cy="1645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29968" y="2505456"/>
            <a:ext cx="9144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06040" y="1691640"/>
            <a:ext cx="1645920" cy="1645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0604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0248" y="2505456"/>
            <a:ext cx="9144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6320" y="1691640"/>
            <a:ext cx="1645920" cy="1645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4632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10528" y="2505456"/>
            <a:ext cx="9144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86600" y="1691640"/>
            <a:ext cx="1645920" cy="164592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08660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Found! 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76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finger[4]=37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finger[1]=42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successor=49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0" y="4023360"/>
            <a:ext cx="6400800" cy="64008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9050">
            <a:solidFill>
              <a:srgbClr val="CCFB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408736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"file1.txt" is stored on node 49  |  3 hops  |  O(log 5) ≈ 2.3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— Nodes Joining &amp; Leaving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(5 nodes)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640080" cy="64008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270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24128" y="1737360"/>
            <a:ext cx="11887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4173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5270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01368" y="1737360"/>
            <a:ext cx="11887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14173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5270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78608" y="1737360"/>
            <a:ext cx="11887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14173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5270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55848" y="1737360"/>
            <a:ext cx="11887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4173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5270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240280"/>
            <a:ext cx="3931920" cy="594360"/>
          </a:xfrm>
          <a:prstGeom prst="roundRect">
            <a:avLst>
              <a:gd name="adj" fmla="val 10769"/>
            </a:avLst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15 (Charlie) leaves the 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 tables rebuild automatically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(4 nodes)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472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24128" y="3657600"/>
            <a:ext cx="11887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000" y="33375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34472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01368" y="3657600"/>
            <a:ext cx="11887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0240" y="33375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34472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78608" y="3657600"/>
            <a:ext cx="11887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7480" y="33375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34472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096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30 inherits keys that belonged to node 15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Efficiency</a:t>
            </a:r>
            <a:endParaRPr lang="en-US" sz="1400" dirty="0"/>
          </a:p>
        </p:txBody>
      </p:sp>
      <p:graphicFrame>
        <p:nvGraphicFramePr>
          <p:cNvPr id="35" name="Chart 0"/>
          <p:cNvGraphicFramePr/>
          <p:nvPr>
            <p:extLst>
              <p:ext uri="{D42A27DB-BD31-4B8C-83A1-F6EECF244321}">
                <p14:modId xmlns:p14="http://schemas.microsoft.com/office/powerpoint/2010/main" val="2092619285"/>
              </p:ext>
            </p:extLst>
          </p:nvPr>
        </p:nvGraphicFramePr>
        <p:xfrm>
          <a:off x="4754880" y="146304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16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2161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Ziad</a:t>
            </a:r>
          </a:p>
        </p:txBody>
      </p:sp>
      <p:sp>
        <p:nvSpPr>
          <p:cNvPr id="8" name="Text 6"/>
          <p:cNvSpPr/>
          <p:nvPr/>
        </p:nvSpPr>
        <p:spPr>
          <a:xfrm>
            <a:off x="3566160" y="12161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structure, consistent hashing (SHA-1), node init, add/remove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84124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56232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75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finger_table.py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19751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197510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6-entry finger table per node using binary search (bisect_left)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8412480" cy="658368"/>
          </a:xfrm>
          <a:prstGeom prst="rect">
            <a:avLst/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15184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34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7340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Mikhail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73405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Chord lookup — greedy hop traversal, predecessor check, wrap-around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84124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CFB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74136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93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23160" y="3493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34930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INSERT, LOOKUP, JOIN, LEAVE events — memory + file output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58368"/>
          </a:xfrm>
          <a:prstGeom prst="rect">
            <a:avLst/>
          </a:prstGeom>
          <a:solidFill>
            <a:srgbClr val="F0FDFA"/>
          </a:solidFill>
          <a:ln w="10160">
            <a:solidFill>
              <a:srgbClr val="CCFB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33088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51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visualizer.py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23160" y="4251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66160" y="4251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ring display + Flask web interface with live add/remove/lookup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churn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churn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560320" cy="14630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2344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tested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7432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Lookup Results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27248"/>
          <a:ext cx="8412480" cy="16459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Hash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Before churn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After churn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file1.txt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[15,37,42]  3 hops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[30,42]  2 hops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photo.jpg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[15]  1 hop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[30]  1 hop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data.csv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[15]  1 hop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[30]  1 hop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video.mp4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[15,37,42]  3 hops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[30,42]  2 hops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2E"/>
          </a:solidFill>
          <a:ln w="12700">
            <a:solidFill>
              <a:srgbClr val="0B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with Flask + HTML Canvas. Run:  python server.py  →  http://127.0.0.1:8010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4023360" cy="82296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0670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78841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Lookup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13588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string (e.g. hello.txt)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hash, responsible node, full hop path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4023360" cy="82296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8049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➕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77840" y="17866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21341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name, node appears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ring instantly. Finger tables rebuild.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61742"/>
            <a:ext cx="4023360" cy="82296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8437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➖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88720" y="28254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172968"/>
            <a:ext cx="3017520" cy="376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node from dropdown.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rebalances, keys transferred.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761742"/>
            <a:ext cx="4023360" cy="82296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8437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77840" y="28254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 Table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3172968"/>
            <a:ext cx="3017520" cy="376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node to inspect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6 routing shortcuts.</a:t>
            </a:r>
            <a:endParaRPr lang="en-US" sz="11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1EB3BB0A-50C3-43C2-9302-04C428297EE2}"/>
              </a:ext>
            </a:extLst>
          </p:cNvPr>
          <p:cNvSpPr/>
          <p:nvPr/>
        </p:nvSpPr>
        <p:spPr>
          <a:xfrm>
            <a:off x="365760" y="3780536"/>
            <a:ext cx="4023360" cy="82296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03422919-A664-488E-AA9F-5F2D507488C8}"/>
              </a:ext>
            </a:extLst>
          </p:cNvPr>
          <p:cNvSpPr/>
          <p:nvPr/>
        </p:nvSpPr>
        <p:spPr>
          <a:xfrm>
            <a:off x="502920" y="386257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2E9F8BD7-F3E3-473E-B50C-8FFBA1B466D3}"/>
              </a:ext>
            </a:extLst>
          </p:cNvPr>
          <p:cNvSpPr/>
          <p:nvPr/>
        </p:nvSpPr>
        <p:spPr>
          <a:xfrm>
            <a:off x="1188720" y="384429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Sessions</a:t>
            </a:r>
            <a:endParaRPr lang="en-US" sz="140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235BBCF2-75FE-41BC-9DE3-7D4D37CEBCD2}"/>
              </a:ext>
            </a:extLst>
          </p:cNvPr>
          <p:cNvSpPr/>
          <p:nvPr/>
        </p:nvSpPr>
        <p:spPr>
          <a:xfrm>
            <a:off x="1188720" y="4091940"/>
            <a:ext cx="3017520" cy="376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ring for every user.</a:t>
            </a:r>
            <a:endParaRPr lang="en-US" sz="1100" dirty="0"/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22F7CFF6-A92A-47B2-813D-9C611A368C0E}"/>
              </a:ext>
            </a:extLst>
          </p:cNvPr>
          <p:cNvSpPr/>
          <p:nvPr/>
        </p:nvSpPr>
        <p:spPr>
          <a:xfrm>
            <a:off x="4754880" y="3780536"/>
            <a:ext cx="4023360" cy="82296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31F328C7-18EE-4868-AF39-08B372CFC36A}"/>
              </a:ext>
            </a:extLst>
          </p:cNvPr>
          <p:cNvSpPr/>
          <p:nvPr/>
        </p:nvSpPr>
        <p:spPr>
          <a:xfrm>
            <a:off x="4892040" y="386257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BCEAD9B1-3868-490A-B9CB-1201B76715FA}"/>
              </a:ext>
            </a:extLst>
          </p:cNvPr>
          <p:cNvSpPr/>
          <p:nvPr/>
        </p:nvSpPr>
        <p:spPr>
          <a:xfrm>
            <a:off x="5577840" y="384429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Highlighting</a:t>
            </a:r>
            <a:endParaRPr lang="en-US" sz="14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34CA8F81-7715-4FF5-89E9-33AC9AEBD03A}"/>
              </a:ext>
            </a:extLst>
          </p:cNvPr>
          <p:cNvSpPr/>
          <p:nvPr/>
        </p:nvSpPr>
        <p:spPr>
          <a:xfrm>
            <a:off x="5577840" y="4091940"/>
            <a:ext cx="3017520" cy="376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highlighting hop path</a:t>
            </a:r>
            <a:r>
              <a:rPr lang="ru-RU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nodes. </a:t>
            </a:r>
            <a:endParaRPr lang="en-US" sz="1100" dirty="0"/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E8148201-CF47-4E85-9358-CA1BAC5EA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" y="3945794"/>
            <a:ext cx="64008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🔒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5">
            <a:extLst>
              <a:ext uri="{FF2B5EF4-FFF2-40B4-BE49-F238E27FC236}">
                <a16:creationId xmlns:a16="http://schemas.microsoft.com/office/drawing/2014/main" id="{2104AF53-AD2A-4CC5-A2A3-2756A3D9F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040" y="3927252"/>
            <a:ext cx="64008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🧭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43582" y="2454614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86382" y="2911814"/>
            <a:ext cx="2743200" cy="2743200"/>
          </a:xfrm>
          <a:prstGeom prst="ellipse">
            <a:avLst/>
          </a:prstGeom>
          <a:solidFill>
            <a:srgbClr val="5EEAD4">
              <a:alpha val="1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1809B364-C75E-418C-AD68-C879651D3FEA}"/>
              </a:ext>
            </a:extLst>
          </p:cNvPr>
          <p:cNvSpPr/>
          <p:nvPr/>
        </p:nvSpPr>
        <p:spPr>
          <a:xfrm>
            <a:off x="6939064" y="-666344"/>
            <a:ext cx="2817780" cy="2817780"/>
          </a:xfrm>
          <a:prstGeom prst="ellipse">
            <a:avLst/>
          </a:prstGeom>
          <a:solidFill>
            <a:srgbClr val="5EEAD4">
              <a:alpha val="1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CFA871FF-EE09-4AA3-BB2A-B1B5DF037222}"/>
              </a:ext>
            </a:extLst>
          </p:cNvPr>
          <p:cNvSpPr/>
          <p:nvPr/>
        </p:nvSpPr>
        <p:spPr>
          <a:xfrm>
            <a:off x="457200" y="268353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592EE55C-FF86-43BA-8223-87CD4BA2FF68}"/>
              </a:ext>
            </a:extLst>
          </p:cNvPr>
          <p:cNvSpPr/>
          <p:nvPr/>
        </p:nvSpPr>
        <p:spPr>
          <a:xfrm>
            <a:off x="3439052" y="4377429"/>
            <a:ext cx="2265896" cy="372245"/>
          </a:xfrm>
          <a:prstGeom prst="roundRect">
            <a:avLst>
              <a:gd name="adj" fmla="val 12727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10">
            <a:hlinkClick r:id="rId3"/>
            <a:extLst>
              <a:ext uri="{FF2B5EF4-FFF2-40B4-BE49-F238E27FC236}">
                <a16:creationId xmlns:a16="http://schemas.microsoft.com/office/drawing/2014/main" id="{81C94DFF-57C1-4091-AA6A-667E7EC5C8CB}"/>
              </a:ext>
            </a:extLst>
          </p:cNvPr>
          <p:cNvSpPr/>
          <p:nvPr/>
        </p:nvSpPr>
        <p:spPr>
          <a:xfrm>
            <a:off x="4184839" y="4387966"/>
            <a:ext cx="774322" cy="294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endParaRPr lang="en-US" sz="2000" u="sng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592A08-B100-4715-B1FE-AFFD350C5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961" y="729575"/>
            <a:ext cx="3450077" cy="3450077"/>
          </a:xfrm>
          <a:prstGeom prst="roundRect">
            <a:avLst>
              <a:gd name="adj" fmla="val 13283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743200" cy="2743200"/>
          </a:xfrm>
          <a:prstGeom prst="ellipse">
            <a:avLst/>
          </a:prstGeom>
          <a:solidFill>
            <a:srgbClr val="5EEAD4">
              <a:alpha val="1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Chord DHT simulation — ring, finger tables, routing, churn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O(log N) routing verified — avg 1.80 hops before, 1.30 after churn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Correctness confirmed — edge cases, single-node ring, key inheritance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 interface — live add/remove nodes, key lookup, finger inspection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Logging — full event trail for every insert, lookup, join, leave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7772400" cy="502920"/>
          </a:xfrm>
          <a:prstGeom prst="roundRect">
            <a:avLst>
              <a:gd name="adj" fmla="val 12727"/>
            </a:avLst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519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github.com/bytepharaoh/chord-dht  ·  python server.py  →  http://127.0.0.1:8010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3971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798</Words>
  <Application>Microsoft Office PowerPoint</Application>
  <PresentationFormat>Экран (16:9)</PresentationFormat>
  <Paragraphs>187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Arial Unicode MS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Chord DHT Simulation</dc:title>
  <dc:subject>PptxGenJS Presentation</dc:subject>
  <dc:creator>Ziad Mohamed et al.</dc:creator>
  <cp:lastModifiedBy>Артём Ульянов</cp:lastModifiedBy>
  <cp:revision>6</cp:revision>
  <dcterms:created xsi:type="dcterms:W3CDTF">2026-04-24T22:10:19Z</dcterms:created>
  <dcterms:modified xsi:type="dcterms:W3CDTF">2026-04-28T00:18:56Z</dcterms:modified>
</cp:coreProperties>
</file>